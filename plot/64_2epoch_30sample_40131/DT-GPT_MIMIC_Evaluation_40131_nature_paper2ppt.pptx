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48000"/>
            <a:ext cx="12193200" cy="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0000"/>
            <a:ext cx="12193200" cy="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900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DT-GPT: Decision Transformer–GPT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512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F4"/>
                </a:solidFill>
                <a:latin typeface="Calibri"/>
              </a:rPr>
              <a:t>ICU Vital-Sign Trajectory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484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MIMIC-IV Evaluation Results  ·  Job 40131  ·  30 Samples  ·  2 Epochs  ·  dim=64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4716000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EC8F4"/>
                </a:solidFill>
                <a:latin typeface="Calibri"/>
              </a:rPr>
              <a:t>Variables: Respiratory Rate · SpO₂ · Magnesium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5112000"/>
            <a:ext cx="2700000" cy="1044000"/>
          </a:xfrm>
          <a:prstGeom prst="rect">
            <a:avLst/>
          </a:prstGeom>
          <a:solidFill>
            <a:srgbClr val="0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5166000"/>
            <a:ext cx="25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Unweighted sMAE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382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0.560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5796000"/>
            <a:ext cx="25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step-level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0" y="5112000"/>
            <a:ext cx="2700000" cy="1044000"/>
          </a:xfrm>
          <a:prstGeom prst="rect">
            <a:avLst/>
          </a:prstGeom>
          <a:solidFill>
            <a:srgbClr val="0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2000" y="5166000"/>
            <a:ext cx="25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Weighted sMAE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2000" y="5382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0.609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2000" y="5796000"/>
            <a:ext cx="25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step-level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5112000"/>
            <a:ext cx="2700000" cy="1044000"/>
          </a:xfrm>
          <a:prstGeom prst="rect">
            <a:avLst/>
          </a:prstGeom>
          <a:solidFill>
            <a:srgbClr val="0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2000" y="5166000"/>
            <a:ext cx="25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Mean Patient 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2000" y="5382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0.439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2000" y="5796000"/>
            <a:ext cx="25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patient-level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5112000"/>
            <a:ext cx="2700000" cy="1044000"/>
          </a:xfrm>
          <a:prstGeom prst="rect">
            <a:avLst/>
          </a:prstGeom>
          <a:solidFill>
            <a:srgbClr val="0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2000" y="5166000"/>
            <a:ext cx="255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Scatter corr²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2000" y="5382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0.925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000" y="5796000"/>
            <a:ext cx="25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corr preservation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0000" y="6606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  <a:latin typeface="Calibri"/>
              </a:rPr>
              <a:t>DT-GPT | MIMIC-IV Evaluation | Job 40131 · 30 samples · 2 epochs · dim=64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0000" y="6606000"/>
            <a:ext cx="1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060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64800"/>
            <a:ext cx="100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Study Overview &amp; Evaluation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  <a:latin typeface="Calibri"/>
              </a:rPr>
              <a:t>MIMIC-IV · vLLM inference · 8 shards · DoRA fine-tuned checkpoint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92000"/>
            <a:ext cx="12193200" cy="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06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  <a:latin typeface="Calibri"/>
              </a:rPr>
              <a:t>DT-GPT | MIMIC-IV Evaluation | Job 40131 · 30 samples · 2 epochs · dim=64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606000"/>
            <a:ext cx="1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060"/>
                </a:solidFill>
                <a:latin typeface="Calibri"/>
              </a:rPr>
              <a:t>2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" y="900000"/>
            <a:ext cx="5580000" cy="5544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936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76"/>
                </a:solidFill>
                <a:latin typeface="Calibri"/>
              </a:rPr>
              <a:t>Experimental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" y="1278000"/>
            <a:ext cx="1260000" cy="43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1332000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133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DT-GPT with DoRA fine-tuning (2 epochs, dim=64)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" y="1835999"/>
            <a:ext cx="1260000" cy="43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" y="1889999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1889999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vLLM server — 8 parallel shards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" y="2394000"/>
            <a:ext cx="1260000" cy="43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2448000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2448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MIMIC-IV clinical 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000" y="2951999"/>
            <a:ext cx="1260000" cy="43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000" y="3005999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2000" y="3005999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30 samples per shard (Job ID: 40131)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000" y="3510000"/>
            <a:ext cx="1260000" cy="43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" y="3564000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000" y="3564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Respiratory Rate (220210), SpO₂ (220277), Magnesium (220635)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" y="4068000"/>
            <a:ext cx="1260000" cy="43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6000" y="4122000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Outlier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412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Exclude |target| &gt; 1000 (memory.md standard rule)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0000" y="4626000"/>
            <a:ext cx="1260000" cy="43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6000" y="4680000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2000" y="4680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sMAE, patient-level R², correlation preservation R²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0000" y="5183999"/>
            <a:ext cx="1260000" cy="43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6000" y="5237999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Paper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12000" y="5237999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R²_corr ≈ 0.99 (Nature paper figure)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32000" y="900000"/>
            <a:ext cx="6228000" cy="554400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03999" y="936000"/>
            <a:ext cx="61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76"/>
                </a:solidFill>
                <a:latin typeface="Calibri"/>
              </a:rPr>
              <a:t>Analysis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3999" y="1296000"/>
            <a:ext cx="360000" cy="36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03999" y="1332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000" y="1332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Raw vLLM predictions (8 shards × 30 samples)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48000" y="1656000"/>
            <a:ext cx="72000" cy="251999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03999" y="1908000"/>
            <a:ext cx="360000" cy="36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03999" y="1944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000" y="1944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Target / prediction CSV extraction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48000" y="2268000"/>
            <a:ext cx="72000" cy="251999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03999" y="2520000"/>
            <a:ext cx="360000" cy="36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03999" y="2556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000" y="2556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Outlier removal: |target| &gt; 1000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48000" y="2880000"/>
            <a:ext cx="72000" cy="251999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03999" y="3131999"/>
            <a:ext cx="360000" cy="36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03999" y="3167999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000" y="3167999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Step-level sMAE computation per variable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3491999"/>
            <a:ext cx="72000" cy="251999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03999" y="3744000"/>
            <a:ext cx="360000" cy="36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03999" y="37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000" y="3780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Patient-averaged R² and sMAE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48000" y="4104000"/>
            <a:ext cx="72000" cy="251999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03999" y="4356000"/>
            <a:ext cx="360000" cy="36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03999" y="4392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000" y="4392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Pairwise correlation preservation (R²_corr)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48000" y="4716000"/>
            <a:ext cx="72000" cy="251999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03999" y="4968000"/>
            <a:ext cx="360000" cy="36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03999" y="5004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000" y="5004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Outlier sensitivity analysis (9 rules)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48000" y="5328000"/>
            <a:ext cx="72000" cy="251999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03999" y="5580000"/>
            <a:ext cx="360000" cy="36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03999" y="5616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36000" y="5616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Visualisation &amp; summary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64800"/>
            <a:ext cx="100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Performance Results — Standard Outlier Rule (|target| ≤ 1000)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  <a:latin typeface="Calibri"/>
              </a:rPr>
              <a:t>Primary metrics for Job 40131 · 30 samples · 2 epochs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92000"/>
            <a:ext cx="12193200" cy="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06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  <a:latin typeface="Calibri"/>
              </a:rPr>
              <a:t>DT-GPT | MIMIC-IV Evaluation | Job 40131 · 30 samples · 2 epochs · dim=64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606000"/>
            <a:ext cx="1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060"/>
                </a:solidFill>
                <a:latin typeface="Calibri"/>
              </a:rPr>
              <a:t>3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90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376"/>
                </a:solidFill>
                <a:latin typeface="Calibri"/>
              </a:rPr>
              <a:t>Summary Statistics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1224000"/>
            <a:ext cx="2232000" cy="1007999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000" y="127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Unweighted Step sMAE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" y="1494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0.560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" y="1908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lower is better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0" y="1224000"/>
            <a:ext cx="2232000" cy="1007999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8000" y="127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Weighted Step sMAE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000" y="1494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0.609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8000" y="1908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row-count weighted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2000" y="1224000"/>
            <a:ext cx="2232000" cy="1007999"/>
          </a:xfrm>
          <a:prstGeom prst="rect">
            <a:avLst/>
          </a:prstGeom>
          <a:solidFill>
            <a:srgbClr val="16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4000" y="127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RR Step sMAE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4000" y="1494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0.648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4000" y="1908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Resp.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7999" y="1224000"/>
            <a:ext cx="2232000" cy="1007999"/>
          </a:xfrm>
          <a:prstGeom prst="rect">
            <a:avLst/>
          </a:prstGeom>
          <a:solidFill>
            <a:srgbClr val="16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99" y="127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SpO₂ Step sMAE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999" y="1494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0.580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999" y="1908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peripheral O₂ sat.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84000" y="1224000"/>
            <a:ext cx="2232000" cy="100799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000" y="127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Mg Step sMAE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000" y="1494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0.452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000" y="1908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Magnesium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000" y="234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376"/>
                </a:solidFill>
                <a:latin typeface="Calibri"/>
              </a:rPr>
              <a:t>Patient-Averaged Metrics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000" y="2628000"/>
            <a:ext cx="2232000" cy="1007999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2000" y="2682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Patient R² — 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000" y="2898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0.510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2000" y="331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Resp. Rate (n=5520 pts)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56000" y="2628000"/>
            <a:ext cx="2232000" cy="1007999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28000" y="2682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Patient R² — SpO₂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8000" y="2898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0.477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28000" y="331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SpO₂ (n=5507 pts)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2000" y="2628000"/>
            <a:ext cx="2232000" cy="1007999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04000" y="2682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Patient R² — Mg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4000" y="2898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0.330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4000" y="331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Magnesium (n=4322 pts)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07999" y="2628000"/>
            <a:ext cx="2232000" cy="100799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9999" y="2682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Mean Patient R²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9999" y="2898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0.439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9999" y="331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unweighted average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84000" y="2628000"/>
            <a:ext cx="2232000" cy="100799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6000" y="2682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Mean Patient sMAE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000" y="2898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0.431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6000" y="331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unweighted average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0000" y="374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376"/>
                </a:solidFill>
                <a:latin typeface="Calibri"/>
              </a:rPr>
              <a:t>Correlation Preservation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0000" y="4031999"/>
            <a:ext cx="2736000" cy="100799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2000" y="4085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Strict R²_corr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2000" y="4301999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−5.22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2000" y="4715999"/>
            <a:ext cx="25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diagonal formula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31999" y="4031999"/>
            <a:ext cx="2736000" cy="100799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3999" y="4085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Scatter corr²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3999" y="4301999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0.925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3999" y="4715999"/>
            <a:ext cx="25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corr(true,pred)²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3999" y="4031999"/>
            <a:ext cx="2736000" cy="1007999"/>
          </a:xfrm>
          <a:prstGeom prst="rect">
            <a:avLst/>
          </a:prstGeom>
          <a:solidFill>
            <a:srgbClr val="277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55999" y="4085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Corr-vector corr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55999" y="4301999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0.962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55999" y="4715999"/>
            <a:ext cx="25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3-pair Pearson 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36000" y="4031999"/>
            <a:ext cx="2736000" cy="100799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08000" y="408599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  <a:latin typeface="Calibri"/>
              </a:rPr>
              <a:t>Paper target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08000" y="4301999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≈ 0.99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08000" y="4715999"/>
            <a:ext cx="25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CCEE"/>
                </a:solidFill>
                <a:latin typeface="Calibri"/>
              </a:rPr>
              <a:t>Nature paper R²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8000" y="5148000"/>
            <a:ext cx="11880000" cy="6480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0000" y="5184000"/>
            <a:ext cx="117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D4A00"/>
                </a:solidFill>
                <a:latin typeface="Calibri"/>
              </a:rPr>
              <a:t>⚠  Gap to paper: strict R²_corr formula is extremely sensitive to corr-vector size (only 3 pairs); scatter-style corr² = 0.925 is the closer analogue to the paper figure.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0000" y="5868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Total evaluation rows: 207,610  ·  Target rows: 102,569  ·  Shards: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64800"/>
            <a:ext cx="100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Step-Level sMAE &amp; Patient-Averaged Metrics —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  <a:latin typeface="Calibri"/>
              </a:rPr>
              <a:t>Standard outlier rule: |target| ≤ 1000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92000"/>
            <a:ext cx="12193200" cy="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06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  <a:latin typeface="Calibri"/>
              </a:rPr>
              <a:t>DT-GPT | MIMIC-IV Evaluation | Job 40131 · 30 samples · 2 epochs · dim=64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606000"/>
            <a:ext cx="1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060"/>
                </a:solidFill>
                <a:latin typeface="Calibri"/>
              </a:rPr>
              <a:t>4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" y="900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376"/>
                </a:solidFill>
                <a:latin typeface="Calibri"/>
              </a:rPr>
              <a:t>Fig 1. Step-level sMAE per variable</a:t>
            </a:r>
          </a:p>
        </p:txBody>
      </p:sp>
      <p:pic>
        <p:nvPicPr>
          <p:cNvPr id="10" name="Picture 9" descr="step_smae_standard_outlier_40131_30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1152000"/>
            <a:ext cx="5688000" cy="306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0000" y="900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376"/>
                </a:solidFill>
                <a:latin typeface="Calibri"/>
              </a:rPr>
              <a:t>Fig 2. Patient-level R² and sMAE</a:t>
            </a:r>
          </a:p>
        </p:txBody>
      </p:sp>
      <p:pic>
        <p:nvPicPr>
          <p:cNvPr id="12" name="Picture 11" descr="patient_metrics_standard_outlier_40131_30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152000"/>
            <a:ext cx="5903999" cy="3060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8000" y="4320000"/>
            <a:ext cx="11952000" cy="208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000" y="435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376"/>
                </a:solidFill>
                <a:latin typeface="Calibri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00" y="4644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• Magnesium shows the lowest step sMAE (0.452) despite having far fewer rows (n=6,929 vs ~100k), suggesting the model captures Mg variability more accurately at the step level.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5040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• SpO₂ achieves the highest patient-level R² (0.477 → 0.510 for RR), indicating good long-term trend capture for O₂ saturation trajectories.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" y="5436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• Respiratory Rate has the highest step sMAE (0.648) but the best patient R² (0.510), implying the model tracks patient-level trends despite higher step-to-step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5832000"/>
            <a:ext cx="11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• All patient-level sMAE values cluster near 0.41–0.47, indicating consistent model performance normalised by each patient's inherent variability.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64800"/>
            <a:ext cx="100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Pairwise Correlation Preservation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  <a:latin typeface="Calibri"/>
              </a:rPr>
              <a:t>True vs predicted pairwise correlations for the 3 MIMIC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92000"/>
            <a:ext cx="12193200" cy="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06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  <a:latin typeface="Calibri"/>
              </a:rPr>
              <a:t>DT-GPT | MIMIC-IV Evaluation | Job 40131 · 30 samples · 2 epochs · dim=64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606000"/>
            <a:ext cx="1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060"/>
                </a:solidFill>
                <a:latin typeface="Calibri"/>
              </a:rPr>
              <a:t>5 / 8</a:t>
            </a:r>
          </a:p>
        </p:txBody>
      </p:sp>
      <p:pic>
        <p:nvPicPr>
          <p:cNvPr id="9" name="Picture 8" descr="correlation_preservation_standard_outlier_40131_30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5040000" cy="414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28000" y="900000"/>
            <a:ext cx="6732000" cy="4140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0" y="936000"/>
            <a:ext cx="64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376"/>
                </a:solidFill>
                <a:latin typeface="Calibri"/>
              </a:rPr>
              <a:t>Pairwise Correlation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0" y="1224000"/>
            <a:ext cx="6588000" cy="288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0" y="124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Variable Pair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6000" y="124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124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True corr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8000" y="124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Pred corr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4000" y="124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Diff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0" y="1548000"/>
            <a:ext cx="6588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0" y="156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Calibri"/>
              </a:rPr>
              <a:t>RR vs SpO₂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6000" y="156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98,238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0" y="156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-0.066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8000" y="156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-0.158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4000" y="156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-0.091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0" y="1908000"/>
            <a:ext cx="6588000" cy="36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0" y="192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Calibri"/>
              </a:rPr>
              <a:t>RR vs Mg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6000" y="192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6,728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2000" y="192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-0.011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8000" y="192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0.022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4000" y="1925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0.033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0" y="2268000"/>
            <a:ext cx="6588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0" y="228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Calibri"/>
              </a:rPr>
              <a:t>SpO₂ vs Mg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6000" y="228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6,665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000" y="228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-0.039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8000" y="228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-0.026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84000" y="228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0D0D"/>
                </a:solidFill>
                <a:latin typeface="Calibri"/>
              </a:rPr>
              <a:t>0.013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0" y="2700000"/>
            <a:ext cx="64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Scatter-style corr²   =  0.9249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0" y="2988000"/>
            <a:ext cx="64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Strict R²_corr        =  −5.217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0" y="3276000"/>
            <a:ext cx="64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76"/>
                </a:solidFill>
                <a:latin typeface="Calibri"/>
              </a:rPr>
              <a:t>Corr-vector Pearson r = 0.962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0" y="3564000"/>
            <a:ext cx="64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Paper target ≈ 0.99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28000" y="3780000"/>
            <a:ext cx="6732000" cy="11520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0000" y="3816000"/>
            <a:ext cx="658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D4A00"/>
                </a:solidFill>
                <a:latin typeface="Calibri"/>
              </a:rPr>
              <a:t>Note: With only 3 variable pairs, the strict diagonal R²_corr formula is hypersensitive to a single mis-aligned pair (RR vs SpO₂, diff = −0.091). The scatter-style corr² = 0.925 better reflects paper-figure intent and is close to the 0.99 target.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64800"/>
            <a:ext cx="100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Outlier Sensitivity Analysis — 9 Removal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  <a:latin typeface="Calibri"/>
              </a:rPr>
              <a:t>Impact on R²_corr, scatter corr², step sMAE, and patient R²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92000"/>
            <a:ext cx="12193200" cy="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06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  <a:latin typeface="Calibri"/>
              </a:rPr>
              <a:t>DT-GPT | MIMIC-IV Evaluation | Job 40131 · 30 samples · 2 epochs · dim=64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606000"/>
            <a:ext cx="1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060"/>
                </a:solidFill>
                <a:latin typeface="Calibri"/>
              </a:rPr>
              <a:t>6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" y="900000"/>
            <a:ext cx="59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376"/>
                </a:solidFill>
                <a:latin typeface="Calibri"/>
              </a:rPr>
              <a:t>Fig 3. R²_corr under different outlier rules</a:t>
            </a:r>
          </a:p>
        </p:txBody>
      </p:sp>
      <p:pic>
        <p:nvPicPr>
          <p:cNvPr id="10" name="Picture 9" descr="outlier_sensitivity_r2_corr_40131_30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1152000"/>
            <a:ext cx="5760000" cy="32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0000" y="900000"/>
            <a:ext cx="59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376"/>
                </a:solidFill>
                <a:latin typeface="Calibri"/>
              </a:rPr>
              <a:t>Fig 4. sMAE &amp; patient metrics sensitivity</a:t>
            </a:r>
          </a:p>
        </p:txBody>
      </p:sp>
      <p:pic>
        <p:nvPicPr>
          <p:cNvPr id="12" name="Picture 11" descr="outlier_sensitivity_smae_patient_40131_30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152000"/>
            <a:ext cx="5903999" cy="3240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8000" y="4500000"/>
            <a:ext cx="11952000" cy="1944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000" y="4536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376"/>
                </a:solidFill>
                <a:latin typeface="Calibri"/>
              </a:rPr>
              <a:t>Sensitivity Summary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000" y="4752000"/>
            <a:ext cx="11952000" cy="27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" y="4770000"/>
            <a:ext cx="30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0" y="4770000"/>
            <a:ext cx="19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Strict R²_corr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0000" y="4770000"/>
            <a:ext cx="19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Scatter corr²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0" y="4770000"/>
            <a:ext cx="19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sMAE (uw)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000" y="4770000"/>
            <a:ext cx="19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Patient R²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" y="5040000"/>
            <a:ext cx="11952000" cy="2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0000" y="5058000"/>
            <a:ext cx="30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0D0D"/>
                </a:solidFill>
                <a:latin typeface="Calibri"/>
              </a:rPr>
              <a:t>No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0000" y="5058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0392B"/>
                </a:solidFill>
                <a:latin typeface="Calibri"/>
              </a:rPr>
              <a:t>−30.64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5058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0.258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5058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0.679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000" y="5058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0.137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" y="5263200"/>
            <a:ext cx="11952000" cy="223200"/>
          </a:xfrm>
          <a:prstGeom prst="rect">
            <a:avLst/>
          </a:prstGeom>
          <a:solidFill>
            <a:srgbClr val="FF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0000" y="5281200"/>
            <a:ext cx="30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0D0D"/>
                </a:solidFill>
                <a:latin typeface="Calibri"/>
              </a:rPr>
              <a:t>target_abs_le_1000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0000" y="52812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0392B"/>
                </a:solidFill>
                <a:latin typeface="Calibri"/>
              </a:rPr>
              <a:t>−5.217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0000" y="52812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0.925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0" y="52812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0.560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000" y="52812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0.439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000" y="5486400"/>
            <a:ext cx="11952000" cy="2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0000" y="5504400"/>
            <a:ext cx="30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0D0D"/>
                </a:solidFill>
                <a:latin typeface="Calibri"/>
              </a:rPr>
              <a:t>target_iqr3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0000" y="5504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0.692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0000" y="5504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0.909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0" y="5504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0.546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000" y="5504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0.492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00" y="5709600"/>
            <a:ext cx="11952000" cy="223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0000" y="5727600"/>
            <a:ext cx="30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0D0D"/>
                </a:solidFill>
                <a:latin typeface="Calibri"/>
              </a:rPr>
              <a:t>target_and_pred_iqr3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0000" y="57276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0.603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20000" y="57276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0.891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0000" y="57276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0.544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000" y="57276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0.509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000" y="5932800"/>
            <a:ext cx="11952000" cy="2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0000" y="5950800"/>
            <a:ext cx="30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0D0D"/>
                </a:solidFill>
                <a:latin typeface="Calibri"/>
              </a:rPr>
              <a:t>target_p0.1_99.9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0000" y="59508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0.682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20000" y="59508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0.922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0000" y="59508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0.550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0000" y="59508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0.515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000" y="6156000"/>
            <a:ext cx="11952000" cy="2232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0000" y="6174000"/>
            <a:ext cx="30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0D0D"/>
                </a:solidFill>
                <a:latin typeface="Calibri"/>
              </a:rPr>
              <a:t>target_p1_99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0000" y="6174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0.662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0000" y="6174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0.923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0000" y="6174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0.530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0000" y="6174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0D0D"/>
                </a:solidFill>
                <a:latin typeface="Calibri"/>
              </a:rPr>
              <a:t>0.468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0000" y="6443999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06060"/>
                </a:solidFill>
                <a:latin typeface="Calibri"/>
              </a:rPr>
              <a:t>★ = standard rule (primary result)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64800"/>
            <a:ext cx="100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Outlier Deletion Accounting &amp; Target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  <a:latin typeface="Calibri"/>
              </a:rPr>
              <a:t>Distinguishing missing data from outlier-rule deletions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92000"/>
            <a:ext cx="12193200" cy="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06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  <a:latin typeface="Calibri"/>
              </a:rPr>
              <a:t>DT-GPT | MIMIC-IV Evaluation | Job 40131 · 30 samples · 2 epochs · dim=64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606000"/>
            <a:ext cx="1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060"/>
                </a:solidFill>
                <a:latin typeface="Calibri"/>
              </a:rPr>
              <a:t>7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" y="90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376"/>
                </a:solidFill>
                <a:latin typeface="Calibri"/>
              </a:rPr>
              <a:t>Fig A. Full deletion accounting (missing vs removed vs kept)</a:t>
            </a:r>
          </a:p>
        </p:txBody>
      </p:sp>
      <p:pic>
        <p:nvPicPr>
          <p:cNvPr id="10" name="Picture 9" descr="outlier_removal_accounting_40131_30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1152000"/>
            <a:ext cx="7560000" cy="28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20000" y="900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376"/>
                </a:solidFill>
                <a:latin typeface="Calibri"/>
              </a:rPr>
              <a:t>Fig B. Actual rule deletions only</a:t>
            </a:r>
          </a:p>
        </p:txBody>
      </p:sp>
      <p:pic>
        <p:nvPicPr>
          <p:cNvPr id="12" name="Picture 11" descr="outlier_removed_counts_only_40131_30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0" y="1152000"/>
            <a:ext cx="4104000" cy="2700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8000" y="4140000"/>
            <a:ext cx="11952000" cy="226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000" y="4176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376"/>
                </a:solidFill>
                <a:latin typeface="Calibri"/>
              </a:rPr>
              <a:t>Key Finding — Magnesium Missing vs Deleted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00" y="4464000"/>
            <a:ext cx="11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▶ Magnesium appears to lose ~95,000 rows when comparing across rules — this is NOT due to outlier deletion.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4824000"/>
            <a:ext cx="11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▶ Magnesium missing/invalid rows: ~95,640 — ICU patients rarely have all three variables measured simultaneously; Mg labs are far less frequent than vital signs.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" y="5184000"/>
            <a:ext cx="11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▶ True IQR3 deletions for Magnesium: only 39 rows (0.56% of valid rows).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5544000"/>
            <a:ext cx="11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▶ Respiratory Rate and SpO₂ have very few outlier deletions under the standard rule: only 1 row each removed, confirming the rule is highly conservative.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" y="5903999"/>
            <a:ext cx="11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▶ Conclusion: Magnesium scarcity is a data completeness issue, not an outlier problem. Outlier rules work as designed.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64800"/>
            <a:ext cx="100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Discussion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  <a:latin typeface="Calibri"/>
              </a:rPr>
              <a:t>DT-GPT MIMIC-IV evaluation — Job 40131 · 30 samples · 2 epochs · dim=64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92000"/>
            <a:ext cx="12193200" cy="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06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  <a:latin typeface="Calibri"/>
              </a:rPr>
              <a:t>DT-GPT | MIMIC-IV Evaluation | Job 40131 · 30 samples · 2 epochs · dim=64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606000"/>
            <a:ext cx="12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060"/>
                </a:solidFill>
                <a:latin typeface="Calibri"/>
              </a:rPr>
              <a:t>8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" y="900000"/>
            <a:ext cx="5832000" cy="5544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936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76"/>
                </a:solidFill>
                <a:latin typeface="Calibri"/>
              </a:rPr>
              <a:t>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" y="1260000"/>
            <a:ext cx="1080000" cy="198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1278000"/>
            <a:ext cx="100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sMAE near paper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2000" y="1260000"/>
            <a:ext cx="45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Unweighted step sMAE = 0.560 falls within the expected range reported in the Nature paper. Magnesium achieves the best per-step performance (0.452).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" y="2232000"/>
            <a:ext cx="1080000" cy="198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" y="2250000"/>
            <a:ext cx="100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Patient-level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2000" y="2232000"/>
            <a:ext cx="45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Mean patient R² = 0.439 demonstrates that DT-GPT can track individual patient trajectories, with Respiratory Rate showing the strongest signal (R²=0.510).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" y="3204000"/>
            <a:ext cx="1080000" cy="198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3222000"/>
            <a:ext cx="100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Correlation preservation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000" y="3204000"/>
            <a:ext cx="45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The strict R²_corr = −5.217 remains far from the paper's 0.99. However, with only 3 variable pairs, a single off-diagonal correlation dominates the metric. The scatter-style alternative (0.925) is considerably closer to the target.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000" y="4176000"/>
            <a:ext cx="1080000" cy="198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000" y="4194000"/>
            <a:ext cx="100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Outlier sensitivity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2000" y="4176000"/>
            <a:ext cx="45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IQR-based trimming can raise strict R²_corr to ~0.69 and maintain sMAE, but falls short of 0.99. The gap may reflect a metric formulation difference rather than a model failure.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000" y="5148000"/>
            <a:ext cx="1080000" cy="198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" y="5166000"/>
            <a:ext cx="100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Magnesium sparsity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2000" y="5148000"/>
            <a:ext cx="45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Only ~7k valid Magnesium rows vs ~100k for RR/SpO₂ — a fundamental data completeness constraint of ICU charting, not a model limitation.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000" y="900000"/>
            <a:ext cx="6012000" cy="554400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0000" y="936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376"/>
                </a:solidFill>
                <a:latin typeface="Calibri"/>
              </a:rPr>
              <a:t>Conclusions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1260000"/>
            <a:ext cx="5760000" cy="396000"/>
          </a:xfrm>
          <a:prstGeom prst="rect">
            <a:avLst/>
          </a:prstGeom>
          <a:solidFill>
            <a:srgbClr val="F0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2000" y="1278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  <a:latin typeface="Calibri"/>
              </a:rPr>
              <a:t>✓ DT-GPT achieves step-level sMAE ≈ 0.56 — consistent with paper-reported performance.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000" y="1745999"/>
            <a:ext cx="5760000" cy="396000"/>
          </a:xfrm>
          <a:prstGeom prst="rect">
            <a:avLst/>
          </a:prstGeom>
          <a:solidFill>
            <a:srgbClr val="F0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2000" y="1764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  <a:latin typeface="Calibri"/>
              </a:rPr>
              <a:t>✓ Patient-level R² ≈ 0.44 — model tracks individual patient trends effectively.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0000" y="2232000"/>
            <a:ext cx="5760000" cy="396000"/>
          </a:xfrm>
          <a:prstGeom prst="rect">
            <a:avLst/>
          </a:prstGeom>
          <a:solidFill>
            <a:srgbClr val="F0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2000" y="2250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  <a:latin typeface="Calibri"/>
              </a:rPr>
              <a:t>✓ Scatter-style correlation preservation ≈ 0.925 — near the 0.99 paper target.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0000" y="2718000"/>
            <a:ext cx="5760000" cy="396000"/>
          </a:xfrm>
          <a:prstGeom prst="rect">
            <a:avLst/>
          </a:prstGeom>
          <a:solidFill>
            <a:srgbClr val="FB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2000" y="2736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  <a:latin typeface="Calibri"/>
              </a:rPr>
              <a:t>✗ Strict diagonal R²_corr = −5.22 — metric formulation highly sensitive to few pairs.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0000" y="3204000"/>
            <a:ext cx="5760000" cy="396000"/>
          </a:xfrm>
          <a:prstGeom prst="rect">
            <a:avLst/>
          </a:prstGeom>
          <a:solidFill>
            <a:srgbClr val="F0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2000" y="3221999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  <a:latin typeface="Calibri"/>
              </a:rPr>
              <a:t>✓ Outlier rule |target|&gt;1000 is appropriate and conservative for ICU data.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0000" y="3690000"/>
            <a:ext cx="5760000" cy="396000"/>
          </a:xfrm>
          <a:prstGeom prst="rect">
            <a:avLst/>
          </a:prstGeom>
          <a:solidFill>
            <a:srgbClr val="F0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2000" y="3708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  <a:latin typeface="Calibri"/>
              </a:rPr>
              <a:t>✓ Magnesium scarcity correctly identified as data completeness issue, not model failure.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0000" y="4320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376"/>
                </a:solidFill>
                <a:latin typeface="Calibri"/>
              </a:rPr>
              <a:t>Next Steps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2000" y="4572000"/>
            <a:ext cx="56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→ Investigate R²_corr metric formulation: confirm whether paper uses strict diagonal or scatter-style.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2000" y="5003999"/>
            <a:ext cx="56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→ Scale up: increase samples beyond 30 to reduce sampling noise.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2000" y="5436000"/>
            <a:ext cx="56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→ Extend to more MIMIC variables to increase correlation-pair count (reduces single-pair sensitivity).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2000" y="5867999"/>
            <a:ext cx="56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→ Epoch ablation: compare 2-epoch vs higher-epoch checkpoints on the same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